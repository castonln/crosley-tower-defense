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Quantico"/>
      <p:regular r:id="rId22"/>
      <p:bold r:id="rId23"/>
      <p:italic r:id="rId24"/>
      <p:boldItalic r:id="rId25"/>
    </p:embeddedFon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Quantico-regular.fntdata"/><Relationship Id="rId21" Type="http://schemas.openxmlformats.org/officeDocument/2006/relationships/slide" Target="slides/slide16.xml"/><Relationship Id="rId24" Type="http://schemas.openxmlformats.org/officeDocument/2006/relationships/font" Target="fonts/Quantico-italic.fntdata"/><Relationship Id="rId23" Type="http://schemas.openxmlformats.org/officeDocument/2006/relationships/font" Target="fonts/Quantic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font" Target="fonts/Quantico-boldItalic.fntdata"/><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d407eca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d407eca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d407eca15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d407eca15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d407eca15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d407eca15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d407eca15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d407eca15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8867c01a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8867c01a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c8867c01a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c8867c01a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d407eca15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d407eca15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d407eca15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d407eca15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d407eca15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d407eca15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d407eca15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9d407eca15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8867c01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c8867c01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8867c01a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8867c01a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8867c01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8867c01a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d407eca15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d407eca15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8867c01a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8867c01a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d407eca15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9d407eca15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16_1_1">
    <p:bg>
      <p:bgPr>
        <a:solidFill>
          <a:schemeClr val="lt2"/>
        </a:solidFill>
      </p:bgPr>
    </p:bg>
    <p:spTree>
      <p:nvGrpSpPr>
        <p:cNvPr id="82" name="Shape 82"/>
        <p:cNvGrpSpPr/>
        <p:nvPr/>
      </p:nvGrpSpPr>
      <p:grpSpPr>
        <a:xfrm>
          <a:off x="0" y="0"/>
          <a:ext cx="0" cy="0"/>
          <a:chOff x="0" y="0"/>
          <a:chExt cx="0" cy="0"/>
        </a:xfrm>
      </p:grpSpPr>
      <p:sp>
        <p:nvSpPr>
          <p:cNvPr id="83" name="Google Shape;83;p13"/>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4" name="Google Shape;84;p13"/>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5" name="Google Shape;85;p13"/>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6" name="Google Shape;86;p13"/>
          <p:cNvSpPr txBox="1"/>
          <p:nvPr>
            <p:ph type="title"/>
          </p:nvPr>
        </p:nvSpPr>
        <p:spPr>
          <a:xfrm>
            <a:off x="876900" y="874250"/>
            <a:ext cx="4387500" cy="26325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87" name="Google Shape;87;p13"/>
          <p:cNvSpPr txBox="1"/>
          <p:nvPr>
            <p:ph idx="1" type="subTitle"/>
          </p:nvPr>
        </p:nvSpPr>
        <p:spPr>
          <a:xfrm>
            <a:off x="958450" y="4298625"/>
            <a:ext cx="2008500" cy="4527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0"/>
              </a:spcBef>
              <a:spcAft>
                <a:spcPts val="0"/>
              </a:spcAft>
              <a:buClr>
                <a:schemeClr val="dk1"/>
              </a:buClr>
              <a:buSzPts val="1100"/>
              <a:buNone/>
              <a:defRPr>
                <a:solidFill>
                  <a:schemeClr val="dk1"/>
                </a:solidFill>
              </a:defRPr>
            </a:lvl2pPr>
            <a:lvl3pPr lvl="2">
              <a:lnSpc>
                <a:spcPct val="115000"/>
              </a:lnSpc>
              <a:spcBef>
                <a:spcPts val="0"/>
              </a:spcBef>
              <a:spcAft>
                <a:spcPts val="0"/>
              </a:spcAft>
              <a:buClr>
                <a:schemeClr val="dk1"/>
              </a:buClr>
              <a:buSzPts val="1100"/>
              <a:buNone/>
              <a:defRPr>
                <a:solidFill>
                  <a:schemeClr val="dk1"/>
                </a:solidFill>
              </a:defRPr>
            </a:lvl3pPr>
            <a:lvl4pPr lvl="3">
              <a:lnSpc>
                <a:spcPct val="115000"/>
              </a:lnSpc>
              <a:spcBef>
                <a:spcPts val="0"/>
              </a:spcBef>
              <a:spcAft>
                <a:spcPts val="0"/>
              </a:spcAft>
              <a:buClr>
                <a:schemeClr val="dk1"/>
              </a:buClr>
              <a:buSzPts val="1100"/>
              <a:buNone/>
              <a:defRPr>
                <a:solidFill>
                  <a:schemeClr val="dk1"/>
                </a:solidFill>
              </a:defRPr>
            </a:lvl4pPr>
            <a:lvl5pPr lvl="4">
              <a:lnSpc>
                <a:spcPct val="115000"/>
              </a:lnSpc>
              <a:spcBef>
                <a:spcPts val="0"/>
              </a:spcBef>
              <a:spcAft>
                <a:spcPts val="0"/>
              </a:spcAft>
              <a:buClr>
                <a:schemeClr val="dk1"/>
              </a:buClr>
              <a:buSzPts val="1100"/>
              <a:buNone/>
              <a:defRPr>
                <a:solidFill>
                  <a:schemeClr val="dk1"/>
                </a:solidFill>
              </a:defRPr>
            </a:lvl5pPr>
            <a:lvl6pPr lvl="5">
              <a:lnSpc>
                <a:spcPct val="115000"/>
              </a:lnSpc>
              <a:spcBef>
                <a:spcPts val="0"/>
              </a:spcBef>
              <a:spcAft>
                <a:spcPts val="0"/>
              </a:spcAft>
              <a:buClr>
                <a:schemeClr val="dk1"/>
              </a:buClr>
              <a:buSzPts val="1100"/>
              <a:buNone/>
              <a:defRPr>
                <a:solidFill>
                  <a:schemeClr val="dk1"/>
                </a:solidFill>
              </a:defRPr>
            </a:lvl6pPr>
            <a:lvl7pPr lvl="6">
              <a:lnSpc>
                <a:spcPct val="115000"/>
              </a:lnSpc>
              <a:spcBef>
                <a:spcPts val="0"/>
              </a:spcBef>
              <a:spcAft>
                <a:spcPts val="0"/>
              </a:spcAft>
              <a:buClr>
                <a:schemeClr val="dk1"/>
              </a:buClr>
              <a:buSzPts val="1100"/>
              <a:buNone/>
              <a:defRPr>
                <a:solidFill>
                  <a:schemeClr val="dk1"/>
                </a:solidFill>
              </a:defRPr>
            </a:lvl7pPr>
            <a:lvl8pPr lvl="7">
              <a:lnSpc>
                <a:spcPct val="115000"/>
              </a:lnSpc>
              <a:spcBef>
                <a:spcPts val="0"/>
              </a:spcBef>
              <a:spcAft>
                <a:spcPts val="0"/>
              </a:spcAft>
              <a:buClr>
                <a:schemeClr val="dk1"/>
              </a:buClr>
              <a:buSzPts val="1100"/>
              <a:buNone/>
              <a:defRPr>
                <a:solidFill>
                  <a:schemeClr val="dk1"/>
                </a:solidFill>
              </a:defRPr>
            </a:lvl8pPr>
            <a:lvl9pPr lvl="8">
              <a:lnSpc>
                <a:spcPct val="115000"/>
              </a:lnSpc>
              <a:spcBef>
                <a:spcPts val="0"/>
              </a:spcBef>
              <a:spcAft>
                <a:spcPts val="0"/>
              </a:spcAft>
              <a:buClr>
                <a:schemeClr val="dk1"/>
              </a:buClr>
              <a:buSzPts val="1100"/>
              <a:buNone/>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mailto:castonln@mail.uc.edu" TargetMode="External"/><Relationship Id="rId4" Type="http://schemas.openxmlformats.org/officeDocument/2006/relationships/hyperlink" Target="mailto:bhidehk@ucmail.uc.ed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drive.google.com/file/d/1p9ApyGDBdTX99jI9tpWwW36oUFL5uLtQ/view" TargetMode="Externa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drive.google.com/file/d/1boffNGSy040o-aaDFvW5eQwxb8vXLo52/view" TargetMode="Externa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1" type="subTitle"/>
          </p:nvPr>
        </p:nvSpPr>
        <p:spPr>
          <a:xfrm>
            <a:off x="958450" y="4298625"/>
            <a:ext cx="2008500" cy="452700"/>
          </a:xfrm>
          <a:prstGeom prst="rect">
            <a:avLst/>
          </a:prstGeom>
        </p:spPr>
        <p:txBody>
          <a:bodyPr anchorCtr="0" anchor="t" bIns="91425" lIns="91425" spcFirstLastPara="1" rIns="91425" wrap="square" tIns="91425">
            <a:normAutofit fontScale="25000" lnSpcReduction="20000"/>
          </a:bodyPr>
          <a:lstStyle/>
          <a:p>
            <a:pPr indent="0" lvl="0" marL="0" rtl="0" algn="l">
              <a:lnSpc>
                <a:spcPct val="100000"/>
              </a:lnSpc>
              <a:spcBef>
                <a:spcPts val="0"/>
              </a:spcBef>
              <a:spcAft>
                <a:spcPts val="0"/>
              </a:spcAft>
              <a:buSzPts val="275"/>
              <a:buNone/>
            </a:pPr>
            <a:r>
              <a:rPr lang="en" sz="6808"/>
              <a:t>Logan Castonguay</a:t>
            </a:r>
            <a:endParaRPr sz="6808"/>
          </a:p>
          <a:p>
            <a:pPr indent="0" lvl="0" marL="0" rtl="0" algn="l">
              <a:spcBef>
                <a:spcPts val="1200"/>
              </a:spcBef>
              <a:spcAft>
                <a:spcPts val="1200"/>
              </a:spcAft>
              <a:buSzPct val="84615"/>
              <a:buNone/>
            </a:pPr>
            <a:r>
              <a:t/>
            </a:r>
            <a:endParaRPr/>
          </a:p>
        </p:txBody>
      </p:sp>
      <p:sp>
        <p:nvSpPr>
          <p:cNvPr id="93" name="Google Shape;93;p14"/>
          <p:cNvSpPr txBox="1"/>
          <p:nvPr>
            <p:ph type="title"/>
          </p:nvPr>
        </p:nvSpPr>
        <p:spPr>
          <a:xfrm>
            <a:off x="876900" y="874250"/>
            <a:ext cx="4387500" cy="26325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3000"/>
              <a:buNone/>
            </a:pPr>
            <a:r>
              <a:rPr lang="en" sz="5600"/>
              <a:t>Crosley Tower</a:t>
            </a:r>
            <a:endParaRPr sz="5600"/>
          </a:p>
          <a:p>
            <a:pPr indent="0" lvl="0" marL="0" rtl="0" algn="l">
              <a:lnSpc>
                <a:spcPct val="80000"/>
              </a:lnSpc>
              <a:spcBef>
                <a:spcPts val="0"/>
              </a:spcBef>
              <a:spcAft>
                <a:spcPts val="0"/>
              </a:spcAft>
              <a:buSzPts val="3000"/>
              <a:buNone/>
            </a:pPr>
            <a:r>
              <a:rPr lang="en" sz="5600"/>
              <a:t>Defense</a:t>
            </a:r>
            <a:endParaRPr sz="5600"/>
          </a:p>
        </p:txBody>
      </p:sp>
      <p:pic>
        <p:nvPicPr>
          <p:cNvPr id="94" name="Google Shape;94;p14" title="towerTop.png"/>
          <p:cNvPicPr preferRelativeResize="0"/>
          <p:nvPr/>
        </p:nvPicPr>
        <p:blipFill>
          <a:blip r:embed="rId3">
            <a:alphaModFix/>
          </a:blip>
          <a:stretch>
            <a:fillRect/>
          </a:stretch>
        </p:blipFill>
        <p:spPr>
          <a:xfrm>
            <a:off x="5937350" y="1119150"/>
            <a:ext cx="2438400" cy="1600200"/>
          </a:xfrm>
          <a:prstGeom prst="rect">
            <a:avLst/>
          </a:prstGeom>
          <a:noFill/>
          <a:ln>
            <a:noFill/>
          </a:ln>
        </p:spPr>
      </p:pic>
      <p:pic>
        <p:nvPicPr>
          <p:cNvPr id="95" name="Google Shape;95;p14" title="towerFloor.png"/>
          <p:cNvPicPr preferRelativeResize="0"/>
          <p:nvPr/>
        </p:nvPicPr>
        <p:blipFill>
          <a:blip r:embed="rId4">
            <a:alphaModFix/>
          </a:blip>
          <a:stretch>
            <a:fillRect/>
          </a:stretch>
        </p:blipFill>
        <p:spPr>
          <a:xfrm>
            <a:off x="5937350" y="2394950"/>
            <a:ext cx="2438400" cy="609600"/>
          </a:xfrm>
          <a:prstGeom prst="rect">
            <a:avLst/>
          </a:prstGeom>
          <a:noFill/>
          <a:ln>
            <a:noFill/>
          </a:ln>
        </p:spPr>
      </p:pic>
      <p:pic>
        <p:nvPicPr>
          <p:cNvPr id="96" name="Google Shape;96;p14" title="towerFloor.png"/>
          <p:cNvPicPr preferRelativeResize="0"/>
          <p:nvPr/>
        </p:nvPicPr>
        <p:blipFill>
          <a:blip r:embed="rId4">
            <a:alphaModFix/>
          </a:blip>
          <a:stretch>
            <a:fillRect/>
          </a:stretch>
        </p:blipFill>
        <p:spPr>
          <a:xfrm>
            <a:off x="5937350" y="2632575"/>
            <a:ext cx="2438400" cy="609600"/>
          </a:xfrm>
          <a:prstGeom prst="rect">
            <a:avLst/>
          </a:prstGeom>
          <a:noFill/>
          <a:ln>
            <a:noFill/>
          </a:ln>
        </p:spPr>
      </p:pic>
      <p:pic>
        <p:nvPicPr>
          <p:cNvPr id="97" name="Google Shape;97;p14" title="towerFloor.png"/>
          <p:cNvPicPr preferRelativeResize="0"/>
          <p:nvPr/>
        </p:nvPicPr>
        <p:blipFill>
          <a:blip r:embed="rId4">
            <a:alphaModFix/>
          </a:blip>
          <a:stretch>
            <a:fillRect/>
          </a:stretch>
        </p:blipFill>
        <p:spPr>
          <a:xfrm>
            <a:off x="5937350" y="2880625"/>
            <a:ext cx="2438400" cy="609600"/>
          </a:xfrm>
          <a:prstGeom prst="rect">
            <a:avLst/>
          </a:prstGeom>
          <a:noFill/>
          <a:ln>
            <a:noFill/>
          </a:ln>
        </p:spPr>
      </p:pic>
      <p:pic>
        <p:nvPicPr>
          <p:cNvPr id="98" name="Google Shape;98;p14" title="towerFloor.png"/>
          <p:cNvPicPr preferRelativeResize="0"/>
          <p:nvPr/>
        </p:nvPicPr>
        <p:blipFill>
          <a:blip r:embed="rId4">
            <a:alphaModFix/>
          </a:blip>
          <a:stretch>
            <a:fillRect/>
          </a:stretch>
        </p:blipFill>
        <p:spPr>
          <a:xfrm>
            <a:off x="5937350" y="3118250"/>
            <a:ext cx="2438400" cy="609600"/>
          </a:xfrm>
          <a:prstGeom prst="rect">
            <a:avLst/>
          </a:prstGeom>
          <a:noFill/>
          <a:ln>
            <a:noFill/>
          </a:ln>
        </p:spPr>
      </p:pic>
      <p:pic>
        <p:nvPicPr>
          <p:cNvPr id="99" name="Google Shape;99;p14" title="towerFloor.png"/>
          <p:cNvPicPr preferRelativeResize="0"/>
          <p:nvPr/>
        </p:nvPicPr>
        <p:blipFill>
          <a:blip r:embed="rId4">
            <a:alphaModFix/>
          </a:blip>
          <a:stretch>
            <a:fillRect/>
          </a:stretch>
        </p:blipFill>
        <p:spPr>
          <a:xfrm>
            <a:off x="5937350" y="3365375"/>
            <a:ext cx="2438400" cy="609600"/>
          </a:xfrm>
          <a:prstGeom prst="rect">
            <a:avLst/>
          </a:prstGeom>
          <a:noFill/>
          <a:ln>
            <a:noFill/>
          </a:ln>
        </p:spPr>
      </p:pic>
      <p:pic>
        <p:nvPicPr>
          <p:cNvPr id="100" name="Google Shape;100;p14" title="towerFloor.png"/>
          <p:cNvPicPr preferRelativeResize="0"/>
          <p:nvPr/>
        </p:nvPicPr>
        <p:blipFill>
          <a:blip r:embed="rId4">
            <a:alphaModFix/>
          </a:blip>
          <a:stretch>
            <a:fillRect/>
          </a:stretch>
        </p:blipFill>
        <p:spPr>
          <a:xfrm>
            <a:off x="5937350" y="3603000"/>
            <a:ext cx="2438400" cy="609600"/>
          </a:xfrm>
          <a:prstGeom prst="rect">
            <a:avLst/>
          </a:prstGeom>
          <a:noFill/>
          <a:ln>
            <a:noFill/>
          </a:ln>
        </p:spPr>
      </p:pic>
      <p:pic>
        <p:nvPicPr>
          <p:cNvPr id="101" name="Google Shape;101;p14" title="towerFloor.png"/>
          <p:cNvPicPr preferRelativeResize="0"/>
          <p:nvPr/>
        </p:nvPicPr>
        <p:blipFill>
          <a:blip r:embed="rId4">
            <a:alphaModFix/>
          </a:blip>
          <a:stretch>
            <a:fillRect/>
          </a:stretch>
        </p:blipFill>
        <p:spPr>
          <a:xfrm>
            <a:off x="5937350" y="3851050"/>
            <a:ext cx="2438400" cy="609600"/>
          </a:xfrm>
          <a:prstGeom prst="rect">
            <a:avLst/>
          </a:prstGeom>
          <a:noFill/>
          <a:ln>
            <a:noFill/>
          </a:ln>
        </p:spPr>
      </p:pic>
      <p:pic>
        <p:nvPicPr>
          <p:cNvPr id="102" name="Google Shape;102;p14" title="towerFloor.png"/>
          <p:cNvPicPr preferRelativeResize="0"/>
          <p:nvPr/>
        </p:nvPicPr>
        <p:blipFill>
          <a:blip r:embed="rId4">
            <a:alphaModFix/>
          </a:blip>
          <a:stretch>
            <a:fillRect/>
          </a:stretch>
        </p:blipFill>
        <p:spPr>
          <a:xfrm>
            <a:off x="5937350" y="4088675"/>
            <a:ext cx="2438400" cy="609600"/>
          </a:xfrm>
          <a:prstGeom prst="rect">
            <a:avLst/>
          </a:prstGeom>
          <a:noFill/>
          <a:ln>
            <a:noFill/>
          </a:ln>
        </p:spPr>
      </p:pic>
      <p:pic>
        <p:nvPicPr>
          <p:cNvPr id="103" name="Google Shape;103;p14" title="towerFloor.png"/>
          <p:cNvPicPr preferRelativeResize="0"/>
          <p:nvPr/>
        </p:nvPicPr>
        <p:blipFill>
          <a:blip r:embed="rId4">
            <a:alphaModFix/>
          </a:blip>
          <a:stretch>
            <a:fillRect/>
          </a:stretch>
        </p:blipFill>
        <p:spPr>
          <a:xfrm>
            <a:off x="5937350" y="4325375"/>
            <a:ext cx="2438400" cy="609600"/>
          </a:xfrm>
          <a:prstGeom prst="rect">
            <a:avLst/>
          </a:prstGeom>
          <a:noFill/>
          <a:ln>
            <a:noFill/>
          </a:ln>
        </p:spPr>
      </p:pic>
      <p:pic>
        <p:nvPicPr>
          <p:cNvPr id="104" name="Google Shape;104;p14" title="towerFloor.png"/>
          <p:cNvPicPr preferRelativeResize="0"/>
          <p:nvPr/>
        </p:nvPicPr>
        <p:blipFill>
          <a:blip r:embed="rId4">
            <a:alphaModFix/>
          </a:blip>
          <a:stretch>
            <a:fillRect/>
          </a:stretch>
        </p:blipFill>
        <p:spPr>
          <a:xfrm>
            <a:off x="5937350" y="4563000"/>
            <a:ext cx="2438400" cy="609600"/>
          </a:xfrm>
          <a:prstGeom prst="rect">
            <a:avLst/>
          </a:prstGeom>
          <a:noFill/>
          <a:ln>
            <a:noFill/>
          </a:ln>
        </p:spPr>
      </p:pic>
      <p:pic>
        <p:nvPicPr>
          <p:cNvPr id="105" name="Google Shape;105;p14" title="towerFloor.png"/>
          <p:cNvPicPr preferRelativeResize="0"/>
          <p:nvPr/>
        </p:nvPicPr>
        <p:blipFill>
          <a:blip r:embed="rId4">
            <a:alphaModFix/>
          </a:blip>
          <a:stretch>
            <a:fillRect/>
          </a:stretch>
        </p:blipFill>
        <p:spPr>
          <a:xfrm>
            <a:off x="5937350" y="4811050"/>
            <a:ext cx="2438400" cy="609600"/>
          </a:xfrm>
          <a:prstGeom prst="rect">
            <a:avLst/>
          </a:prstGeom>
          <a:noFill/>
          <a:ln>
            <a:noFill/>
          </a:ln>
        </p:spPr>
      </p:pic>
      <p:pic>
        <p:nvPicPr>
          <p:cNvPr id="106" name="Google Shape;106;p14" title="towerFloor.png"/>
          <p:cNvPicPr preferRelativeResize="0"/>
          <p:nvPr/>
        </p:nvPicPr>
        <p:blipFill>
          <a:blip r:embed="rId4">
            <a:alphaModFix/>
          </a:blip>
          <a:stretch>
            <a:fillRect/>
          </a:stretch>
        </p:blipFill>
        <p:spPr>
          <a:xfrm>
            <a:off x="5937350" y="5048675"/>
            <a:ext cx="2438400" cy="609600"/>
          </a:xfrm>
          <a:prstGeom prst="rect">
            <a:avLst/>
          </a:prstGeom>
          <a:noFill/>
          <a:ln>
            <a:noFill/>
          </a:ln>
        </p:spPr>
      </p:pic>
      <p:pic>
        <p:nvPicPr>
          <p:cNvPr id="107" name="Google Shape;107;p14" title="triceracopter.png"/>
          <p:cNvPicPr preferRelativeResize="0"/>
          <p:nvPr/>
        </p:nvPicPr>
        <p:blipFill>
          <a:blip r:embed="rId5">
            <a:alphaModFix/>
          </a:blip>
          <a:stretch>
            <a:fillRect/>
          </a:stretch>
        </p:blipFill>
        <p:spPr>
          <a:xfrm>
            <a:off x="8189850" y="671175"/>
            <a:ext cx="818584" cy="569450"/>
          </a:xfrm>
          <a:prstGeom prst="rect">
            <a:avLst/>
          </a:prstGeom>
          <a:noFill/>
          <a:ln>
            <a:noFill/>
          </a:ln>
        </p:spPr>
      </p:pic>
      <p:pic>
        <p:nvPicPr>
          <p:cNvPr id="108" name="Google Shape;108;p14" title="triceracopter.png"/>
          <p:cNvPicPr preferRelativeResize="0"/>
          <p:nvPr/>
        </p:nvPicPr>
        <p:blipFill>
          <a:blip r:embed="rId5">
            <a:alphaModFix/>
          </a:blip>
          <a:stretch>
            <a:fillRect/>
          </a:stretch>
        </p:blipFill>
        <p:spPr>
          <a:xfrm flipH="1">
            <a:off x="5194150" y="671175"/>
            <a:ext cx="818584" cy="569450"/>
          </a:xfrm>
          <a:prstGeom prst="rect">
            <a:avLst/>
          </a:prstGeom>
          <a:noFill/>
          <a:ln>
            <a:noFill/>
          </a:ln>
        </p:spPr>
      </p:pic>
      <p:pic>
        <p:nvPicPr>
          <p:cNvPr id="109" name="Google Shape;109;p14" title="triceracopter.png"/>
          <p:cNvPicPr preferRelativeResize="0"/>
          <p:nvPr/>
        </p:nvPicPr>
        <p:blipFill>
          <a:blip r:embed="rId5">
            <a:alphaModFix/>
          </a:blip>
          <a:stretch>
            <a:fillRect/>
          </a:stretch>
        </p:blipFill>
        <p:spPr>
          <a:xfrm>
            <a:off x="8503375" y="1728325"/>
            <a:ext cx="818584" cy="569450"/>
          </a:xfrm>
          <a:prstGeom prst="rect">
            <a:avLst/>
          </a:prstGeom>
          <a:noFill/>
          <a:ln>
            <a:noFill/>
          </a:ln>
        </p:spPr>
      </p:pic>
      <p:pic>
        <p:nvPicPr>
          <p:cNvPr id="110" name="Google Shape;110;p14" title="triceracopter.png"/>
          <p:cNvPicPr preferRelativeResize="0"/>
          <p:nvPr/>
        </p:nvPicPr>
        <p:blipFill>
          <a:blip r:embed="rId5">
            <a:alphaModFix/>
          </a:blip>
          <a:stretch>
            <a:fillRect/>
          </a:stretch>
        </p:blipFill>
        <p:spPr>
          <a:xfrm flipH="1">
            <a:off x="4900350" y="1634525"/>
            <a:ext cx="818584" cy="569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Members</a:t>
            </a:r>
            <a:endParaRPr/>
          </a:p>
          <a:p>
            <a:pPr indent="0" lvl="0" marL="0" rtl="0" algn="l">
              <a:spcBef>
                <a:spcPts val="0"/>
              </a:spcBef>
              <a:spcAft>
                <a:spcPts val="0"/>
              </a:spcAft>
              <a:buNone/>
            </a:pPr>
            <a:r>
              <a:t/>
            </a:r>
            <a:endParaRPr/>
          </a:p>
        </p:txBody>
      </p:sp>
      <p:sp>
        <p:nvSpPr>
          <p:cNvPr id="116" name="Google Shape;116;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Logan Castonguay</a:t>
            </a:r>
            <a:endParaRPr/>
          </a:p>
          <a:p>
            <a:pPr indent="0" lvl="0" marL="0" rtl="0" algn="l">
              <a:spcBef>
                <a:spcPts val="1200"/>
              </a:spcBef>
              <a:spcAft>
                <a:spcPts val="0"/>
              </a:spcAft>
              <a:buNone/>
            </a:pPr>
            <a:r>
              <a:rPr lang="en"/>
              <a:t>Computer Science</a:t>
            </a:r>
            <a:endParaRPr/>
          </a:p>
          <a:p>
            <a:pPr indent="0" lvl="0" marL="0" rtl="0" algn="l">
              <a:spcBef>
                <a:spcPts val="1200"/>
              </a:spcBef>
              <a:spcAft>
                <a:spcPts val="0"/>
              </a:spcAft>
              <a:buNone/>
            </a:pPr>
            <a:r>
              <a:rPr lang="en" u="sng">
                <a:solidFill>
                  <a:schemeClr val="hlink"/>
                </a:solidFill>
                <a:hlinkClick r:id="rId3"/>
              </a:rPr>
              <a:t>castonln@mail.uc.edu</a:t>
            </a:r>
            <a:endParaRPr/>
          </a:p>
          <a:p>
            <a:pPr indent="0" lvl="0" marL="0" rtl="0" algn="l">
              <a:spcBef>
                <a:spcPts val="1200"/>
              </a:spcBef>
              <a:spcAft>
                <a:spcPts val="1200"/>
              </a:spcAft>
              <a:buNone/>
            </a:pPr>
            <a:r>
              <a:t/>
            </a:r>
            <a:endParaRPr/>
          </a:p>
        </p:txBody>
      </p:sp>
      <p:sp>
        <p:nvSpPr>
          <p:cNvPr id="117" name="Google Shape;117;p15"/>
          <p:cNvSpPr txBox="1"/>
          <p:nvPr>
            <p:ph type="title"/>
          </p:nvPr>
        </p:nvSpPr>
        <p:spPr>
          <a:xfrm>
            <a:off x="4001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Advisor</a:t>
            </a:r>
            <a:endParaRPr/>
          </a:p>
        </p:txBody>
      </p:sp>
      <p:sp>
        <p:nvSpPr>
          <p:cNvPr id="118" name="Google Shape;118;p15"/>
          <p:cNvSpPr txBox="1"/>
          <p:nvPr>
            <p:ph idx="1" type="body"/>
          </p:nvPr>
        </p:nvSpPr>
        <p:spPr>
          <a:xfrm>
            <a:off x="4001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Hrishikesh Vinayak Bhide</a:t>
            </a:r>
            <a:endParaRPr/>
          </a:p>
          <a:p>
            <a:pPr indent="0" lvl="0" marL="0" rtl="0" algn="l">
              <a:spcBef>
                <a:spcPts val="1200"/>
              </a:spcBef>
              <a:spcAft>
                <a:spcPts val="0"/>
              </a:spcAft>
              <a:buNone/>
            </a:pPr>
            <a:r>
              <a:rPr lang="en" u="sng">
                <a:solidFill>
                  <a:schemeClr val="hlink"/>
                </a:solidFill>
                <a:hlinkClick r:id="rId4"/>
              </a:rPr>
              <a:t>bhidehk@ucmail.uc.edu</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Purpose and Goals</a:t>
            </a:r>
            <a:endParaRPr/>
          </a:p>
        </p:txBody>
      </p:sp>
      <p:sp>
        <p:nvSpPr>
          <p:cNvPr id="124" name="Google Shape;124;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t>Purpose </a:t>
            </a:r>
            <a:r>
              <a:rPr lang="en" sz="1900"/>
              <a:t>-</a:t>
            </a:r>
            <a:r>
              <a:rPr b="1" lang="en" sz="1900"/>
              <a:t> </a:t>
            </a:r>
            <a:r>
              <a:rPr lang="en" sz="1900"/>
              <a:t>To create a tower defense-style game based on UC.</a:t>
            </a:r>
            <a:endParaRPr sz="1900"/>
          </a:p>
          <a:p>
            <a:pPr indent="0" lvl="0" marL="0" rtl="0" algn="l">
              <a:spcBef>
                <a:spcPts val="1200"/>
              </a:spcBef>
              <a:spcAft>
                <a:spcPts val="1200"/>
              </a:spcAft>
              <a:buNone/>
            </a:pPr>
            <a:r>
              <a:rPr b="1" lang="en" sz="1900"/>
              <a:t>Goals</a:t>
            </a:r>
            <a:r>
              <a:rPr lang="en" sz="1900"/>
              <a:t> - Showcasing a functional game at the 2026 CEAS Expo, publishing a functional game with a working leaderboard, learning more about C#, Unity, and game development.</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a:t>
            </a:r>
            <a:endParaRPr/>
          </a:p>
        </p:txBody>
      </p:sp>
      <p:sp>
        <p:nvSpPr>
          <p:cNvPr id="130" name="Google Shape;130;p17"/>
          <p:cNvSpPr txBox="1"/>
          <p:nvPr>
            <p:ph idx="1" type="body"/>
          </p:nvPr>
        </p:nvSpPr>
        <p:spPr>
          <a:xfrm>
            <a:off x="729450" y="2078875"/>
            <a:ext cx="5133000" cy="2720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Crosley Tower Defense is a tower defense game set on UC's campus. The goal is to defend the now ill-fated Crosley Tower from demolition. Players will be able to strategically place students to protect the tower from waves of Triceracopters (as found in Langsam Library) who remove the tower floor by floor. Each student will be representative of one of around 5 majors offered at UC, and have abilities depending on their field of study. The goal is to create a game that is a topical and fun way to bolster school spirit among students, especially incoming 2026 freshmen.</a:t>
            </a:r>
            <a:endParaRPr sz="1400"/>
          </a:p>
        </p:txBody>
      </p:sp>
      <p:pic>
        <p:nvPicPr>
          <p:cNvPr descr="Triceracopter' and 'Self-Portrait,' Cincinnati" id="131" name="Google Shape;131;p17"/>
          <p:cNvPicPr preferRelativeResize="0"/>
          <p:nvPr/>
        </p:nvPicPr>
        <p:blipFill rotWithShape="1">
          <a:blip r:embed="rId3">
            <a:alphaModFix/>
          </a:blip>
          <a:srcRect b="13271" l="36318" r="0" t="6103"/>
          <a:stretch/>
        </p:blipFill>
        <p:spPr>
          <a:xfrm>
            <a:off x="6293425" y="3076575"/>
            <a:ext cx="2045001" cy="1722400"/>
          </a:xfrm>
          <a:prstGeom prst="rect">
            <a:avLst/>
          </a:prstGeom>
          <a:noFill/>
          <a:ln>
            <a:noFill/>
          </a:ln>
        </p:spPr>
      </p:pic>
      <p:pic>
        <p:nvPicPr>
          <p:cNvPr descr="Crosley Tower, University of Cincinnati. built in a continuous concrete  pour. : r/brutalism" id="132" name="Google Shape;132;p17"/>
          <p:cNvPicPr preferRelativeResize="0"/>
          <p:nvPr/>
        </p:nvPicPr>
        <p:blipFill rotWithShape="1">
          <a:blip r:embed="rId4">
            <a:alphaModFix/>
          </a:blip>
          <a:srcRect b="0" l="35149" r="0" t="7339"/>
          <a:stretch/>
        </p:blipFill>
        <p:spPr>
          <a:xfrm>
            <a:off x="6514325" y="855175"/>
            <a:ext cx="1603200" cy="1911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Intellectual Merits</a:t>
            </a:r>
            <a:endParaRPr/>
          </a:p>
        </p:txBody>
      </p:sp>
      <p:sp>
        <p:nvSpPr>
          <p:cNvPr id="138" name="Google Shape;138;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Game creation from the ground up</a:t>
            </a:r>
            <a:endParaRPr sz="1900"/>
          </a:p>
          <a:p>
            <a:pPr indent="-349250" lvl="0" marL="457200" rtl="0" algn="l">
              <a:spcBef>
                <a:spcPts val="0"/>
              </a:spcBef>
              <a:spcAft>
                <a:spcPts val="0"/>
              </a:spcAft>
              <a:buSzPts val="1900"/>
              <a:buChar char="-"/>
            </a:pPr>
            <a:r>
              <a:rPr lang="en" sz="1900"/>
              <a:t>A tower defense game from an isometric perspective</a:t>
            </a:r>
            <a:endParaRPr sz="1900"/>
          </a:p>
          <a:p>
            <a:pPr indent="-349250" lvl="0" marL="457200" rtl="0" algn="l">
              <a:spcBef>
                <a:spcPts val="0"/>
              </a:spcBef>
              <a:spcAft>
                <a:spcPts val="0"/>
              </a:spcAft>
              <a:buSzPts val="1900"/>
              <a:buChar char="-"/>
            </a:pPr>
            <a:r>
              <a:rPr lang="en" sz="1900"/>
              <a:t>A game specifically about UC for UC students to enjoy</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Broader Impacts</a:t>
            </a:r>
            <a:endParaRPr/>
          </a:p>
        </p:txBody>
      </p:sp>
      <p:sp>
        <p:nvSpPr>
          <p:cNvPr id="144" name="Google Shape;144;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The main intention of the project is to help foster a sense of community among UC students and create a game that is fun, challenging, and shareable.</a:t>
            </a:r>
            <a:endParaRPr sz="1700"/>
          </a:p>
          <a:p>
            <a:pPr indent="0" lvl="0" marL="0" rtl="0" algn="l">
              <a:spcBef>
                <a:spcPts val="1200"/>
              </a:spcBef>
              <a:spcAft>
                <a:spcPts val="1200"/>
              </a:spcAft>
              <a:buNone/>
            </a:pPr>
            <a:r>
              <a:rPr lang="en" sz="1700"/>
              <a:t>Sharing high scores on the game’s leaderboard is a great icebreaker or talking point. And the game’s subject is a unique experience that can only be fully appreciated by UC students.</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Design Specifications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Stories</a:t>
            </a:r>
            <a:endParaRPr/>
          </a:p>
        </p:txBody>
      </p:sp>
      <p:sp>
        <p:nvSpPr>
          <p:cNvPr id="155" name="Google Shape;155;p21"/>
          <p:cNvSpPr txBox="1"/>
          <p:nvPr>
            <p:ph idx="1" type="body"/>
          </p:nvPr>
        </p:nvSpPr>
        <p:spPr>
          <a:xfrm>
            <a:off x="729450" y="2078875"/>
            <a:ext cx="7688700" cy="2717700"/>
          </a:xfrm>
          <a:prstGeom prst="rect">
            <a:avLst/>
          </a:prstGeom>
        </p:spPr>
        <p:txBody>
          <a:bodyPr anchorCtr="0" anchor="t" bIns="91425" lIns="91425" spcFirstLastPara="1" rIns="91425" wrap="square" tIns="91425">
            <a:normAutofit fontScale="85000" lnSpcReduction="20000"/>
          </a:bodyPr>
          <a:lstStyle/>
          <a:p>
            <a:pPr indent="-322079" lvl="0" marL="457200" rtl="0" algn="l">
              <a:spcBef>
                <a:spcPts val="0"/>
              </a:spcBef>
              <a:spcAft>
                <a:spcPts val="0"/>
              </a:spcAft>
              <a:buSzPct val="100000"/>
              <a:buAutoNum type="arabicPeriod"/>
            </a:pPr>
            <a:r>
              <a:rPr lang="en" sz="1732"/>
              <a:t>As a University of Cincinnati student, I want a public leaderboard and easy sharing functionality so that I may share the game with my friends.</a:t>
            </a:r>
            <a:endParaRPr sz="1732"/>
          </a:p>
          <a:p>
            <a:pPr indent="0" lvl="0" marL="0" rtl="0" algn="l">
              <a:spcBef>
                <a:spcPts val="1200"/>
              </a:spcBef>
              <a:spcAft>
                <a:spcPts val="0"/>
              </a:spcAft>
              <a:buNone/>
            </a:pPr>
            <a:r>
              <a:t/>
            </a:r>
            <a:endParaRPr sz="1732"/>
          </a:p>
          <a:p>
            <a:pPr indent="-322079" lvl="0" marL="457200" rtl="0" algn="l">
              <a:spcBef>
                <a:spcPts val="1200"/>
              </a:spcBef>
              <a:spcAft>
                <a:spcPts val="0"/>
              </a:spcAft>
              <a:buSzPct val="100000"/>
              <a:buAutoNum type="arabicPeriod"/>
            </a:pPr>
            <a:r>
              <a:rPr lang="en" sz="1732"/>
              <a:t>As an experienced gamer, I want to experience an unlimited number of waves and solve said waves with a variety of solutions so that the game I'm playing has a satisfying gameplay loop.</a:t>
            </a:r>
            <a:endParaRPr sz="1732"/>
          </a:p>
          <a:p>
            <a:pPr indent="0" lvl="0" marL="457200" rtl="0" algn="l">
              <a:spcBef>
                <a:spcPts val="1200"/>
              </a:spcBef>
              <a:spcAft>
                <a:spcPts val="0"/>
              </a:spcAft>
              <a:buNone/>
            </a:pPr>
            <a:r>
              <a:t/>
            </a:r>
            <a:endParaRPr sz="1732"/>
          </a:p>
          <a:p>
            <a:pPr indent="-322079" lvl="0" marL="457200" rtl="0" algn="l">
              <a:spcBef>
                <a:spcPts val="1200"/>
              </a:spcBef>
              <a:spcAft>
                <a:spcPts val="0"/>
              </a:spcAft>
              <a:buSzPct val="100000"/>
              <a:buAutoNum type="arabicPeriod"/>
            </a:pPr>
            <a:r>
              <a:rPr lang="en" sz="1732"/>
              <a:t>As an inexperienced gamer, I want the game's controls to be intuitive and access to playing it to be easy so that I can play without too much prior knowledge.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2"/>
          <p:cNvPicPr preferRelativeResize="0"/>
          <p:nvPr/>
        </p:nvPicPr>
        <p:blipFill rotWithShape="1">
          <a:blip r:embed="rId3">
            <a:alphaModFix/>
          </a:blip>
          <a:srcRect b="38088" l="0" r="0" t="0"/>
          <a:stretch/>
        </p:blipFill>
        <p:spPr>
          <a:xfrm>
            <a:off x="1664475" y="209725"/>
            <a:ext cx="5994999" cy="49337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3"/>
          <p:cNvPicPr preferRelativeResize="0"/>
          <p:nvPr/>
        </p:nvPicPr>
        <p:blipFill rotWithShape="1">
          <a:blip r:embed="rId3">
            <a:alphaModFix/>
          </a:blip>
          <a:srcRect b="0" l="0" r="0" t="60630"/>
          <a:stretch/>
        </p:blipFill>
        <p:spPr>
          <a:xfrm>
            <a:off x="198763" y="283024"/>
            <a:ext cx="8746475" cy="4577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Technologies Used</a:t>
            </a:r>
            <a:endParaRPr/>
          </a:p>
        </p:txBody>
      </p:sp>
      <p:sp>
        <p:nvSpPr>
          <p:cNvPr id="171" name="Google Shape;171;p24"/>
          <p:cNvSpPr txBox="1"/>
          <p:nvPr>
            <p:ph idx="1" type="body"/>
          </p:nvPr>
        </p:nvSpPr>
        <p:spPr>
          <a:xfrm>
            <a:off x="729450" y="2078875"/>
            <a:ext cx="3967800" cy="2792100"/>
          </a:xfrm>
          <a:prstGeom prst="rect">
            <a:avLst/>
          </a:prstGeom>
        </p:spPr>
        <p:txBody>
          <a:bodyPr anchorCtr="0" anchor="t" bIns="91425" lIns="91425" spcFirstLastPara="1" rIns="91425" wrap="square" tIns="91425">
            <a:normAutofit fontScale="85000" lnSpcReduction="10000"/>
          </a:bodyPr>
          <a:lstStyle/>
          <a:p>
            <a:pPr indent="-347345" lvl="0" marL="457200" rtl="0" algn="l">
              <a:spcBef>
                <a:spcPts val="0"/>
              </a:spcBef>
              <a:spcAft>
                <a:spcPts val="0"/>
              </a:spcAft>
              <a:buSzPct val="100000"/>
              <a:buChar char="-"/>
            </a:pPr>
            <a:r>
              <a:rPr lang="en" sz="2200"/>
              <a:t>Unity game engine</a:t>
            </a:r>
            <a:endParaRPr sz="2200"/>
          </a:p>
          <a:p>
            <a:pPr indent="-325755" lvl="1" marL="914400" rtl="0" algn="l">
              <a:spcBef>
                <a:spcPts val="0"/>
              </a:spcBef>
              <a:spcAft>
                <a:spcPts val="0"/>
              </a:spcAft>
              <a:buSzPct val="100000"/>
              <a:buChar char="-"/>
            </a:pPr>
            <a:r>
              <a:rPr lang="en" sz="1800"/>
              <a:t>The basic backbone of the game </a:t>
            </a:r>
            <a:endParaRPr sz="1800"/>
          </a:p>
          <a:p>
            <a:pPr indent="-347345" lvl="0" marL="457200" rtl="0" algn="l">
              <a:spcBef>
                <a:spcPts val="0"/>
              </a:spcBef>
              <a:spcAft>
                <a:spcPts val="0"/>
              </a:spcAft>
              <a:buSzPct val="100000"/>
              <a:buChar char="-"/>
            </a:pPr>
            <a:r>
              <a:rPr lang="en" sz="2200"/>
              <a:t>C#</a:t>
            </a:r>
            <a:endParaRPr sz="2200"/>
          </a:p>
          <a:p>
            <a:pPr indent="-325755" lvl="1" marL="914400" rtl="0" algn="l">
              <a:spcBef>
                <a:spcPts val="0"/>
              </a:spcBef>
              <a:spcAft>
                <a:spcPts val="0"/>
              </a:spcAft>
              <a:buSzPct val="100000"/>
              <a:buChar char="-"/>
            </a:pPr>
            <a:r>
              <a:rPr lang="en" sz="1800"/>
              <a:t>The language which Unity uses. Unity has specialized libraries that are used in C# to expedite the game dev process</a:t>
            </a:r>
            <a:endParaRPr sz="1800"/>
          </a:p>
          <a:p>
            <a:pPr indent="-347345" lvl="0" marL="457200" rtl="0" algn="l">
              <a:spcBef>
                <a:spcPts val="0"/>
              </a:spcBef>
              <a:spcAft>
                <a:spcPts val="0"/>
              </a:spcAft>
              <a:buSzPct val="100000"/>
              <a:buChar char="-"/>
            </a:pPr>
            <a:r>
              <a:rPr lang="en" sz="2200"/>
              <a:t>Adobe Photoshop</a:t>
            </a:r>
            <a:endParaRPr sz="2200"/>
          </a:p>
          <a:p>
            <a:pPr indent="-319487" lvl="1" marL="914400" rtl="0" algn="l">
              <a:spcBef>
                <a:spcPts val="0"/>
              </a:spcBef>
              <a:spcAft>
                <a:spcPts val="0"/>
              </a:spcAft>
              <a:buSzPct val="100000"/>
              <a:buChar char="-"/>
            </a:pPr>
            <a:r>
              <a:rPr lang="en" sz="1684"/>
              <a:t>Used to make the very basic sprites used in game</a:t>
            </a:r>
            <a:endParaRPr sz="1684"/>
          </a:p>
        </p:txBody>
      </p:sp>
      <p:pic>
        <p:nvPicPr>
          <p:cNvPr descr="File:Unity Technologies logo.svg - Wikimedia Commons" id="172" name="Google Shape;172;p24"/>
          <p:cNvPicPr preferRelativeResize="0"/>
          <p:nvPr/>
        </p:nvPicPr>
        <p:blipFill>
          <a:blip r:embed="rId3">
            <a:alphaModFix/>
          </a:blip>
          <a:stretch>
            <a:fillRect/>
          </a:stretch>
        </p:blipFill>
        <p:spPr>
          <a:xfrm>
            <a:off x="5334514" y="1140750"/>
            <a:ext cx="3389911" cy="1235575"/>
          </a:xfrm>
          <a:prstGeom prst="rect">
            <a:avLst/>
          </a:prstGeom>
          <a:noFill/>
          <a:ln>
            <a:noFill/>
          </a:ln>
        </p:spPr>
      </p:pic>
      <p:pic>
        <p:nvPicPr>
          <p:cNvPr id="173" name="Google Shape;173;p24"/>
          <p:cNvPicPr preferRelativeResize="0"/>
          <p:nvPr/>
        </p:nvPicPr>
        <p:blipFill>
          <a:blip r:embed="rId4">
            <a:alphaModFix/>
          </a:blip>
          <a:stretch>
            <a:fillRect/>
          </a:stretch>
        </p:blipFill>
        <p:spPr>
          <a:xfrm>
            <a:off x="5641075" y="2078875"/>
            <a:ext cx="3156300" cy="3156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a:t>
            </a:r>
            <a:endParaRPr/>
          </a:p>
        </p:txBody>
      </p:sp>
      <p:sp>
        <p:nvSpPr>
          <p:cNvPr id="179" name="Google Shape;179;p25"/>
          <p:cNvSpPr txBox="1"/>
          <p:nvPr>
            <p:ph idx="1" type="body"/>
          </p:nvPr>
        </p:nvSpPr>
        <p:spPr>
          <a:xfrm>
            <a:off x="5740950" y="2141875"/>
            <a:ext cx="2677200" cy="2558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700"/>
              <a:t>This is the initial prototype from a simple, top-down </a:t>
            </a:r>
            <a:r>
              <a:rPr lang="en" sz="1700"/>
              <a:t>perspective. The logic for these components is very reusable, but must be adapted to the new perspective and art of the final product.</a:t>
            </a:r>
            <a:endParaRPr sz="1700"/>
          </a:p>
        </p:txBody>
      </p:sp>
      <p:pic>
        <p:nvPicPr>
          <p:cNvPr id="180" name="Google Shape;180;p25" title="Recording 2026-02-16 212056.mp4">
            <a:hlinkClick r:id="rId3"/>
          </p:cNvPr>
          <p:cNvPicPr preferRelativeResize="0"/>
          <p:nvPr/>
        </p:nvPicPr>
        <p:blipFill>
          <a:blip r:embed="rId4">
            <a:alphaModFix/>
          </a:blip>
          <a:stretch>
            <a:fillRect/>
          </a:stretch>
        </p:blipFill>
        <p:spPr>
          <a:xfrm>
            <a:off x="774500" y="1928500"/>
            <a:ext cx="4236346" cy="29848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a:t>
            </a:r>
            <a:endParaRPr/>
          </a:p>
        </p:txBody>
      </p:sp>
      <p:pic>
        <p:nvPicPr>
          <p:cNvPr id="186" name="Google Shape;186;p26" title="Recording 2026-02-16 211559.mp4">
            <a:hlinkClick r:id="rId3"/>
          </p:cNvPr>
          <p:cNvPicPr preferRelativeResize="0"/>
          <p:nvPr/>
        </p:nvPicPr>
        <p:blipFill>
          <a:blip r:embed="rId4">
            <a:alphaModFix/>
          </a:blip>
          <a:stretch>
            <a:fillRect/>
          </a:stretch>
        </p:blipFill>
        <p:spPr>
          <a:xfrm>
            <a:off x="729450" y="1987150"/>
            <a:ext cx="4806338" cy="2984849"/>
          </a:xfrm>
          <a:prstGeom prst="rect">
            <a:avLst/>
          </a:prstGeom>
          <a:noFill/>
          <a:ln>
            <a:noFill/>
          </a:ln>
        </p:spPr>
      </p:pic>
      <p:sp>
        <p:nvSpPr>
          <p:cNvPr id="187" name="Google Shape;187;p26"/>
          <p:cNvSpPr txBox="1"/>
          <p:nvPr>
            <p:ph idx="1" type="body"/>
          </p:nvPr>
        </p:nvSpPr>
        <p:spPr>
          <a:xfrm>
            <a:off x="5898925" y="2289325"/>
            <a:ext cx="2677200" cy="23805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1200"/>
              </a:spcAft>
              <a:buNone/>
            </a:pPr>
            <a:r>
              <a:rPr lang="en" sz="1700"/>
              <a:t>Logic for tower damage, healing, enemies, etc. is implemented. Developer tools are used now to show this. Later, enemies will spawn in waves, and users will be able to place towers in customized ways. The art is temporary and (hopefully) not final.</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Constraints</a:t>
            </a:r>
            <a:endParaRPr/>
          </a:p>
        </p:txBody>
      </p:sp>
      <p:sp>
        <p:nvSpPr>
          <p:cNvPr id="193" name="Google Shape;193;p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sz="1600"/>
              <a:t>Financial - Small budget -&gt; Using Unity with free license</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en" sz="1600"/>
              <a:t>Legal - Project uses UC imagery -&gt; No profiting off the work, and respectful as possible</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rPr lang="en" sz="1600"/>
              <a:t>Cultural - Featuring student characters from UC -&gt; Making sure they represent an accurate slice of the student body</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a:t>
            </a:r>
            <a:endParaRPr/>
          </a:p>
        </p:txBody>
      </p:sp>
      <p:sp>
        <p:nvSpPr>
          <p:cNvPr id="199" name="Google Shape;199;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Learning Unity game engine and Unity-specific C# libraries</a:t>
            </a:r>
            <a:endParaRPr sz="1900"/>
          </a:p>
          <a:p>
            <a:pPr indent="-336550" lvl="1" marL="914400" rtl="0" algn="l">
              <a:spcBef>
                <a:spcPts val="0"/>
              </a:spcBef>
              <a:spcAft>
                <a:spcPts val="0"/>
              </a:spcAft>
              <a:buSzPts val="1700"/>
              <a:buChar char="-"/>
            </a:pPr>
            <a:r>
              <a:rPr lang="en" sz="1700"/>
              <a:t>Aided through the completion of the Unity pathways tutorial</a:t>
            </a:r>
            <a:endParaRPr sz="1700"/>
          </a:p>
          <a:p>
            <a:pPr indent="-349250" lvl="0" marL="457200" rtl="0" algn="l">
              <a:spcBef>
                <a:spcPts val="0"/>
              </a:spcBef>
              <a:spcAft>
                <a:spcPts val="0"/>
              </a:spcAft>
              <a:buSzPts val="1900"/>
              <a:buChar char="-"/>
            </a:pPr>
            <a:r>
              <a:rPr lang="en" sz="1900"/>
              <a:t>Understanding the basic programming requirements for a tower defense game</a:t>
            </a:r>
            <a:endParaRPr sz="1900"/>
          </a:p>
          <a:p>
            <a:pPr indent="-336550" lvl="1" marL="914400" rtl="0" algn="l">
              <a:spcBef>
                <a:spcPts val="0"/>
              </a:spcBef>
              <a:spcAft>
                <a:spcPts val="0"/>
              </a:spcAft>
              <a:buSzPts val="1700"/>
              <a:buChar char="-"/>
            </a:pPr>
            <a:r>
              <a:rPr lang="en" sz="1700"/>
              <a:t>Solved via the completion of a more basic prototype game with final functionality</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Demo</a:t>
            </a:r>
            <a:endParaRPr/>
          </a:p>
        </p:txBody>
      </p:sp>
      <p:sp>
        <p:nvSpPr>
          <p:cNvPr id="205" name="Google Shape;205;p29"/>
          <p:cNvSpPr txBox="1"/>
          <p:nvPr>
            <p:ph idx="1" type="body"/>
          </p:nvPr>
        </p:nvSpPr>
        <p:spPr>
          <a:xfrm>
            <a:off x="729450" y="2078875"/>
            <a:ext cx="3323400" cy="22611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Fully playable game with some waves designed</a:t>
            </a:r>
            <a:endParaRPr sz="2000"/>
          </a:p>
          <a:p>
            <a:pPr indent="-355600" lvl="0" marL="457200" rtl="0" algn="l">
              <a:spcBef>
                <a:spcPts val="0"/>
              </a:spcBef>
              <a:spcAft>
                <a:spcPts val="0"/>
              </a:spcAft>
              <a:buSzPts val="2000"/>
              <a:buChar char="-"/>
            </a:pPr>
            <a:r>
              <a:rPr lang="en" sz="2000"/>
              <a:t>Functional live demo of the game on a PC that people can play</a:t>
            </a:r>
            <a:endParaRPr sz="2000"/>
          </a:p>
        </p:txBody>
      </p:sp>
      <p:pic>
        <p:nvPicPr>
          <p:cNvPr id="206" name="Google Shape;206;p29"/>
          <p:cNvPicPr preferRelativeResize="0"/>
          <p:nvPr/>
        </p:nvPicPr>
        <p:blipFill>
          <a:blip r:embed="rId3">
            <a:alphaModFix/>
          </a:blip>
          <a:stretch>
            <a:fillRect/>
          </a:stretch>
        </p:blipFill>
        <p:spPr>
          <a:xfrm>
            <a:off x="4412476" y="1853851"/>
            <a:ext cx="4326426" cy="28878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